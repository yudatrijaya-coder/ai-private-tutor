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8412480" cy="4411980"/>
          </a:xfrm>
          <a:prstGeom prst="rect">
            <a:avLst/>
          </a:prstGeom>
          <a:noFill/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800"/>
              </a:spcAft>
              <a:defRPr sz="4600" b="1">
                <a:solidFill>
                  <a:srgbClr val="FFFFFF"/>
                </a:solidFill>
                <a:latin typeface="Georgia"/>
              </a:defRPr>
            </a:pPr>
            <a:r>
              <a:t>AI PRIVATE TUTOR</a:t>
            </a:r>
          </a:p>
          <a:p>
            <a:pPr>
              <a:spcAft>
                <a:spcPts val="2000"/>
              </a:spcAft>
              <a:defRPr sz="1800">
                <a:solidFill>
                  <a:srgbClr val="BAE6FD"/>
                </a:solidFill>
                <a:latin typeface="Calibri"/>
              </a:defRPr>
            </a:pPr>
            <a:r>
              <a:t>Personalized Telegram-Integrated LMS &amp; Student Helper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EA5E9"/>
                </a:solidFill>
                <a:latin typeface="Consolas"/>
              </a:defRPr>
            </a:pPr>
            <a:r>
              <a:t>🌐 Web Portal: https://senangbelajar.web.id</a:t>
            </a:r>
          </a:p>
          <a:p>
            <a:pPr>
              <a:defRPr sz="1500">
                <a:solidFill>
                  <a:srgbClr val="0EA5E9"/>
                </a:solidFill>
                <a:latin typeface="Consolas"/>
              </a:defRPr>
            </a:pPr>
            <a:r>
              <a:t>🤖 Telegram Bot: @senangbelajar_bot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Platform 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✔  Next.js 14 (App Router)
</a:t>
            </a:r>
            <a:r>
              <a:rPr sz="1300">
                <a:solidFill>
                  <a:srgbClr val="334155"/>
                </a:solidFill>
                <a:latin typeface="Calibri"/>
              </a:rPr>
              <a:t>Powers the main responsive student dashboard &amp; admin controls.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✔  Telegraf.js Webhooks
</a:t>
            </a:r>
            <a:r>
              <a:rPr sz="1300">
                <a:solidFill>
                  <a:srgbClr val="334155"/>
                </a:solidFill>
                <a:latin typeface="Calibri"/>
              </a:rPr>
              <a:t>Handles instant dual-channel interactions via @senangbelajar_bot.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✔  Prisma &amp; PostgreSQL
</a:t>
            </a:r>
            <a:r>
              <a:rPr sz="1300">
                <a:solidFill>
                  <a:srgbClr val="334155"/>
                </a:solidFill>
                <a:latin typeface="Calibri"/>
              </a:rPr>
              <a:t>Provides reliable, type-safe database schemas with migration tracking.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✔  SumoPod LLM Gateway
</a:t>
            </a:r>
            <a:r>
              <a:rPr sz="1300">
                <a:solidFill>
                  <a:srgbClr val="334155"/>
                </a:solidFill>
                <a:latin typeface="Calibri"/>
              </a:rPr>
              <a:t>Runs deepseek-v4-flash for cost-efficient AI private tutoring.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188720"/>
            <a:ext cx="3931920" cy="64008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latin typeface="Calibri"/>
              </a:defRPr>
            </a:pPr>
            <a:r>
              <a:t>Telegram Client (Student Chat)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39319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Next.js backend (Webhook /api/bot)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DB: PostgreSQL | ORM: Prisma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749039"/>
            <a:ext cx="3931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>
                <a:solidFill>
                  <a:srgbClr val="0F172A"/>
                </a:solidFill>
                <a:latin typeface="Calibri"/>
              </a:defRPr>
            </a:pPr>
            <a:r>
              <a:t>SumoPod LLM Gateway (deepseek-v4-flash)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Core Platform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749039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Dual Curriculum Integration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Unifies Kemendikdasmen's SIBI (national textbooks) and school-specific Moodle portals into a single learning path.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09728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1097280"/>
            <a:ext cx="73152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188720"/>
            <a:ext cx="3749039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YouTube Video Linker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Scrapes, filters, and maps high-quality reference videos to curriculum topics. Validated via oEmbed API.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3749039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Adaptive Quiz Engine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Generates and reviews student knowledge using dynamic question banks generated directly matching progress.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926080"/>
            <a:ext cx="402336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63440" y="2926080"/>
            <a:ext cx="73152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3017520"/>
            <a:ext cx="3749039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React Flow Mindmaps</a:t>
            </a:r>
          </a:p>
          <a:p>
            <a:pPr>
              <a:defRPr sz="1200">
                <a:solidFill>
                  <a:srgbClr val="334155"/>
                </a:solidFill>
                <a:latin typeface="Calibri"/>
              </a:defRPr>
            </a:pPr>
            <a:r>
              <a:t>Automatically visualizes curriculum outlines and study guides into interactive node maps on the student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Operations &amp; Default Schedule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ctr">
              <a:spcAft>
                <a:spcPts val="1400"/>
              </a:spcAft>
              <a:defRPr b="1" sz="1600">
                <a:solidFill>
                  <a:srgbClr val="BAE6FD"/>
                </a:solidFill>
              </a:defRPr>
            </a:pPr>
            <a:r>
              <a:t>📅 Default Study Schedule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FFFFF"/>
                </a:solidFill>
              </a:rPr>
              <a:t>• Intensive Schedule: </a:t>
            </a:r>
            <a:r>
              <a:rPr sz="1200">
                <a:solidFill>
                  <a:srgbClr val="BAE6FD"/>
                </a:solidFill>
              </a:rPr>
              <a:t>Senin, Rabu, Jumat
19:00 - 21:00 WIB (UTC+7)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FFFFF"/>
                </a:solidFill>
              </a:rPr>
              <a:t>• Reguler Schedule: </a:t>
            </a:r>
            <a:r>
              <a:rPr sz="1200">
                <a:solidFill>
                  <a:srgbClr val="BAE6FD"/>
                </a:solidFill>
              </a:rPr>
              <a:t>Selasa, Kamis, Minggu
19:00 - 20:00 WIB (UTC+7)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FFFFF"/>
                </a:solidFill>
              </a:rPr>
              <a:t>• Notification Policy: </a:t>
            </a:r>
            <a:r>
              <a:rPr sz="1200">
                <a:solidFill>
                  <a:srgbClr val="BAE6FD"/>
                </a:solidFill>
              </a:rPr>
              <a:t>Reminder sent exactly 15 mins before (18:45 WIB) with Topic and Sub-topic selection.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97280"/>
            <a:ext cx="4023360" cy="3291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spcAft>
                <a:spcPts val="1400"/>
              </a:spcAft>
            </a:pPr>
            <a:r>
              <a:rPr b="1" sz="1400">
                <a:solidFill>
                  <a:srgbClr val="BAE6FD"/>
                </a:solidFill>
              </a:rPr>
              <a:t>✔  Moodle Automation Pipeline
</a:t>
            </a:r>
            <a:r>
              <a:rPr sz="1200">
                <a:solidFill>
                  <a:srgbClr val="E2E8F0"/>
                </a:solidFill>
              </a:rPr>
              <a:t>Automated scrapers fetch Moodle PDFs, metadata, and lesson structures securely using user enrolment tokens.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BAE6FD"/>
                </a:solidFill>
              </a:rPr>
              <a:t>✔  Discrepancy Checking Engine
</a:t>
            </a:r>
            <a:r>
              <a:rPr sz="1200">
                <a:solidFill>
                  <a:srgbClr val="E2E8F0"/>
                </a:solidFill>
              </a:rPr>
              <a:t>Periodic background jobs check physical directories against database tables to match student-specific courses.</a:t>
            </a:r>
          </a:p>
          <a:p>
            <a:pPr>
              <a:spcAft>
                <a:spcPts val="1400"/>
              </a:spcAft>
            </a:pPr>
            <a:r>
              <a:rPr b="1" sz="1400">
                <a:solidFill>
                  <a:srgbClr val="BAE6FD"/>
                </a:solidFill>
              </a:rPr>
              <a:t>✔  Robust Hosting Infrastructure
</a:t>
            </a:r>
            <a:r>
              <a:rPr sz="1200">
                <a:solidFill>
                  <a:srgbClr val="E2E8F0"/>
                </a:solidFill>
              </a:rPr>
              <a:t>Managed PM2 application runners and Caddy server with SSL handling incoming API calls and bot webhooks.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onsolas"/>
              </a:defRPr>
            </a:pPr>
            <a:r>
              <a:t>https://senangbelajar.web.id  |  @senangbelajar_bot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